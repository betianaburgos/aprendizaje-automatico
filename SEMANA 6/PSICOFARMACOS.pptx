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65" r:id="rId5"/>
    <p:sldId id="258" r:id="rId6"/>
    <p:sldId id="259" r:id="rId7"/>
    <p:sldId id="260" r:id="rId8"/>
    <p:sldId id="261" r:id="rId9"/>
    <p:sldId id="266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1555D-3724-4836-B9B5-2373057C8E6D}" v="295" dt="2026-05-12T23:34:00.397"/>
    <p1510:client id="{37D3D322-5740-4F31-8C2E-69B6B7FE33A0}" v="1310" dt="2026-05-13T00:16:03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15" autoAdjust="0"/>
  </p:normalViewPr>
  <p:slideViewPr>
    <p:cSldViewPr snapToGrid="0" snapToObjects="1">
      <p:cViewPr>
        <p:scale>
          <a:sx n="81" d="100"/>
          <a:sy n="81" d="100"/>
        </p:scale>
        <p:origin x="-1056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_naranja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2765" y="2964612"/>
            <a:ext cx="7249420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/>
            </a:pPr>
            <a:r>
              <a:rPr b="1" dirty="0" err="1"/>
              <a:t>Modelos</a:t>
            </a:r>
            <a:r>
              <a:rPr b="1" dirty="0"/>
              <a:t> de Machine Learning </a:t>
            </a:r>
            <a:r>
              <a:rPr b="1" dirty="0" err="1"/>
              <a:t>aplicados</a:t>
            </a:r>
            <a:r>
              <a:rPr b="1" dirty="0"/>
              <a:t> a </a:t>
            </a:r>
            <a:r>
              <a:rPr b="1" dirty="0" err="1"/>
              <a:t>salud</a:t>
            </a:r>
            <a:r>
              <a:rPr b="1" dirty="0"/>
              <a:t> mental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D461D0F-B6C4-515E-D7E9-B387D98A6F7C}"/>
              </a:ext>
            </a:extLst>
          </p:cNvPr>
          <p:cNvSpPr txBox="1"/>
          <p:nvPr/>
        </p:nvSpPr>
        <p:spPr>
          <a:xfrm>
            <a:off x="567373" y="1006948"/>
            <a:ext cx="7233142" cy="120032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ea typeface="Calibri"/>
                <a:cs typeface="Calibri"/>
              </a:rPr>
              <a:t>CONSUMO DE PSICOFARMACOS EN </a:t>
            </a:r>
          </a:p>
          <a:p>
            <a:r>
              <a:rPr lang="en-US" sz="3600" b="1">
                <a:ea typeface="Calibri"/>
                <a:cs typeface="Calibri"/>
              </a:rPr>
              <a:t>ARGENTINA (2019-2025)</a:t>
            </a:r>
            <a:endParaRPr lang="en-US" sz="3600" b="1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ondo_naranja_soft.png">
            <a:extLst>
              <a:ext uri="{FF2B5EF4-FFF2-40B4-BE49-F238E27FC236}">
                <a16:creationId xmlns="" xmlns:a16="http://schemas.microsoft.com/office/drawing/2014/main" id="{588F8579-6854-3A8A-9D74-67FBDE2A9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BF10382-872C-4716-63A7-2E10412A4FF6}"/>
              </a:ext>
            </a:extLst>
          </p:cNvPr>
          <p:cNvSpPr txBox="1"/>
          <p:nvPr/>
        </p:nvSpPr>
        <p:spPr>
          <a:xfrm>
            <a:off x="1590932" y="1251121"/>
            <a:ext cx="607025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                                   </a:t>
            </a:r>
            <a:r>
              <a:rPr lang="en-US" sz="3200" b="1">
                <a:ea typeface="Calibri"/>
                <a:cs typeface="Calibri"/>
              </a:rPr>
              <a:t>SET DE DATOS</a:t>
            </a:r>
            <a:r>
              <a:rPr lang="en-US" sz="3200" dirty="0">
                <a:ea typeface="Calibri"/>
                <a:cs typeface="Calibri"/>
              </a:rPr>
              <a:t> </a:t>
            </a:r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5E3DD45-1973-A1CC-A5C5-9E94573CB5B5}"/>
              </a:ext>
            </a:extLst>
          </p:cNvPr>
          <p:cNvSpPr txBox="1"/>
          <p:nvPr/>
        </p:nvSpPr>
        <p:spPr>
          <a:xfrm>
            <a:off x="863025" y="2566838"/>
            <a:ext cx="60452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Datos </a:t>
            </a:r>
            <a:r>
              <a:rPr lang="en-US" b="1" dirty="0" err="1">
                <a:ea typeface="+mn-lt"/>
                <a:cs typeface="+mn-lt"/>
              </a:rPr>
              <a:t>oficiales</a:t>
            </a:r>
            <a:r>
              <a:rPr lang="en-US" b="1" dirty="0">
                <a:ea typeface="+mn-lt"/>
                <a:cs typeface="+mn-lt"/>
              </a:rPr>
              <a:t>: SEDRONAR, </a:t>
            </a:r>
            <a:r>
              <a:rPr lang="en-US" b="1" dirty="0" err="1">
                <a:ea typeface="+mn-lt"/>
                <a:cs typeface="+mn-lt"/>
              </a:rPr>
              <a:t>ENCoPraC</a:t>
            </a:r>
            <a:r>
              <a:rPr lang="en-US" b="1" dirty="0">
                <a:ea typeface="+mn-lt"/>
                <a:cs typeface="+mn-lt"/>
              </a:rPr>
              <a:t>, COFA e INDEC.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 Dataset </a:t>
            </a:r>
            <a:r>
              <a:rPr lang="en-US" b="1" dirty="0" err="1">
                <a:ea typeface="+mn-lt"/>
                <a:cs typeface="+mn-lt"/>
              </a:rPr>
              <a:t>ampliado</a:t>
            </a:r>
            <a:r>
              <a:rPr lang="en-US" b="1" dirty="0">
                <a:ea typeface="+mn-lt"/>
                <a:cs typeface="+mn-lt"/>
              </a:rPr>
              <a:t> con IA para fines </a:t>
            </a:r>
            <a:r>
              <a:rPr lang="en-US" b="1" dirty="0" err="1">
                <a:ea typeface="+mn-lt"/>
                <a:cs typeface="+mn-lt"/>
              </a:rPr>
              <a:t>académicos</a:t>
            </a:r>
            <a:r>
              <a:rPr lang="en-US" b="1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 Variables:</a:t>
            </a: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- Edad</a:t>
            </a: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- </a:t>
            </a:r>
            <a:r>
              <a:rPr lang="en-US" b="1" dirty="0" err="1">
                <a:ea typeface="+mn-lt"/>
                <a:cs typeface="+mn-lt"/>
              </a:rPr>
              <a:t>Género</a:t>
            </a:r>
            <a:endParaRPr lang="en-US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- </a:t>
            </a:r>
            <a:r>
              <a:rPr lang="en-US" b="1" dirty="0" err="1">
                <a:ea typeface="+mn-lt"/>
                <a:cs typeface="+mn-lt"/>
              </a:rPr>
              <a:t>Ansiedad</a:t>
            </a:r>
            <a:endParaRPr lang="en-US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- Alcohol</a:t>
            </a:r>
            <a:endParaRPr lang="en-US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- Tabaco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- </a:t>
            </a:r>
            <a:r>
              <a:rPr lang="en-US" b="1" dirty="0" err="1">
                <a:ea typeface="+mn-lt"/>
                <a:cs typeface="+mn-lt"/>
              </a:rPr>
              <a:t>Desempleo</a:t>
            </a:r>
            <a:endParaRPr lang="en-US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- </a:t>
            </a:r>
            <a:r>
              <a:rPr lang="en-US" b="1" dirty="0" err="1">
                <a:ea typeface="+mn-lt"/>
                <a:cs typeface="+mn-lt"/>
              </a:rPr>
              <a:t>Consumo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psicofármacos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4342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_naranja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8603" y="1686752"/>
            <a:ext cx="8713667" cy="31700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900"/>
            </a:pPr>
            <a:r>
              <a:rPr lang="en-US" sz="20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Analizar </a:t>
            </a:r>
            <a:r>
              <a:rPr lang="en-US" sz="2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consumo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psicofármacos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Argentina.</a:t>
            </a: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Dataset </a:t>
            </a:r>
            <a:r>
              <a:rPr lang="en-US" sz="2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construido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 </a:t>
            </a:r>
            <a:r>
              <a:rPr lang="en-US" sz="2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datos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SEDRONAR, </a:t>
            </a:r>
            <a:r>
              <a:rPr lang="en-US" sz="2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ENCoPraC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,COFA, FARMA E INDEC</a:t>
            </a: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Variables </a:t>
            </a:r>
            <a:r>
              <a:rPr lang="en-US" sz="2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sociales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2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demográficas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 sz="20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Problema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20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clasificación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Predecir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consumo</a:t>
            </a:r>
            <a:r>
              <a:rPr lang="en-US" sz="20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alto o bajo</a:t>
            </a:r>
            <a:r>
              <a:rPr lang="en-US" sz="20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>
              <a:ea typeface="Calibri"/>
              <a:cs typeface="Calibri"/>
            </a:endParaRPr>
          </a:p>
          <a:p>
            <a:pPr>
              <a:defRPr sz="1900"/>
            </a:pPr>
            <a:endParaRPr lang="en-US" sz="2000" b="1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  <a:defRPr sz="1900"/>
            </a:pPr>
            <a:r>
              <a:rPr lang="en-US" sz="2000" b="1" err="1">
                <a:ea typeface="Calibri"/>
                <a:cs typeface="Calibri"/>
              </a:rPr>
              <a:t>Evaluar</a:t>
            </a:r>
            <a:r>
              <a:rPr lang="en-US" sz="2000" b="1" dirty="0">
                <a:ea typeface="Calibri"/>
                <a:cs typeface="Calibri"/>
              </a:rPr>
              <a:t> </a:t>
            </a:r>
            <a:r>
              <a:rPr lang="en-US" sz="2000" b="1" err="1">
                <a:ea typeface="Calibri"/>
                <a:cs typeface="Calibri"/>
              </a:rPr>
              <a:t>que</a:t>
            </a:r>
            <a:r>
              <a:rPr lang="en-US" sz="2000" b="1" dirty="0">
                <a:ea typeface="Calibri"/>
                <a:cs typeface="Calibri"/>
              </a:rPr>
              <a:t> </a:t>
            </a:r>
            <a:r>
              <a:rPr lang="en-US" sz="2000" b="1" err="1">
                <a:ea typeface="Calibri"/>
                <a:cs typeface="Calibri"/>
              </a:rPr>
              <a:t>modelo</a:t>
            </a:r>
            <a:r>
              <a:rPr lang="en-US" sz="2000" b="1" dirty="0">
                <a:ea typeface="Calibri"/>
                <a:cs typeface="Calibri"/>
              </a:rPr>
              <a:t> es </a:t>
            </a:r>
            <a:r>
              <a:rPr lang="en-US" sz="2000" b="1" err="1">
                <a:ea typeface="Calibri"/>
                <a:cs typeface="Calibri"/>
              </a:rPr>
              <a:t>el</a:t>
            </a:r>
            <a:r>
              <a:rPr lang="en-US" sz="2000" b="1" dirty="0">
                <a:ea typeface="Calibri"/>
                <a:cs typeface="Calibri"/>
              </a:rPr>
              <a:t> </a:t>
            </a:r>
            <a:r>
              <a:rPr lang="en-US" sz="2000" b="1" err="1">
                <a:ea typeface="Calibri"/>
                <a:cs typeface="Calibri"/>
              </a:rPr>
              <a:t>que</a:t>
            </a:r>
            <a:r>
              <a:rPr lang="en-US" sz="2000" b="1" dirty="0">
                <a:ea typeface="Calibri"/>
                <a:cs typeface="Calibri"/>
              </a:rPr>
              <a:t> se </a:t>
            </a:r>
            <a:r>
              <a:rPr lang="en-US" sz="2000" b="1" err="1">
                <a:ea typeface="Calibri"/>
                <a:cs typeface="Calibri"/>
              </a:rPr>
              <a:t>aplica</a:t>
            </a:r>
            <a:r>
              <a:rPr lang="en-US" sz="2000" b="1" dirty="0">
                <a:ea typeface="Calibri"/>
                <a:cs typeface="Calibri"/>
              </a:rPr>
              <a:t> de </a:t>
            </a:r>
            <a:r>
              <a:rPr lang="en-US" sz="2000" b="1" err="1">
                <a:ea typeface="Calibri"/>
                <a:cs typeface="Calibri"/>
              </a:rPr>
              <a:t>manera</a:t>
            </a:r>
            <a:r>
              <a:rPr lang="en-US" sz="2000" b="1" dirty="0">
                <a:ea typeface="Calibri"/>
                <a:cs typeface="Calibri"/>
              </a:rPr>
              <a:t> mas </a:t>
            </a:r>
            <a:r>
              <a:rPr lang="en-US" sz="2000" b="1" err="1">
                <a:ea typeface="Calibri"/>
                <a:cs typeface="Calibri"/>
              </a:rPr>
              <a:t>efectiva</a:t>
            </a:r>
            <a:r>
              <a:rPr lang="en-US" sz="2000" b="1" dirty="0">
                <a:ea typeface="Calibri"/>
                <a:cs typeface="Calibri"/>
              </a:rPr>
              <a:t> </a:t>
            </a:r>
            <a:r>
              <a:rPr lang="en-US" sz="2000" b="1" err="1">
                <a:ea typeface="Calibri"/>
                <a:cs typeface="Calibri"/>
              </a:rPr>
              <a:t>en</a:t>
            </a:r>
            <a:r>
              <a:rPr lang="en-US" sz="2000" b="1" dirty="0">
                <a:ea typeface="Calibri"/>
                <a:cs typeface="Calibri"/>
              </a:rPr>
              <a:t> </a:t>
            </a:r>
            <a:r>
              <a:rPr lang="en-US" sz="2000" b="1" err="1">
                <a:ea typeface="Calibri"/>
                <a:cs typeface="Calibri"/>
              </a:rPr>
              <a:t>este</a:t>
            </a:r>
            <a:r>
              <a:rPr lang="en-US" sz="2000" b="1" dirty="0">
                <a:ea typeface="Calibri"/>
                <a:cs typeface="Calibri"/>
              </a:rPr>
              <a:t> </a:t>
            </a:r>
            <a:r>
              <a:rPr lang="en-US" sz="2000" b="1" err="1">
                <a:ea typeface="Calibri"/>
                <a:cs typeface="Calibri"/>
              </a:rPr>
              <a:t>caso</a:t>
            </a:r>
            <a:r>
              <a:rPr lang="en-US" sz="2000" b="1" dirty="0">
                <a:ea typeface="Calibri"/>
                <a:cs typeface="Calibri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940C77E-FC6E-B810-3F0C-2824C5921F36}"/>
              </a:ext>
            </a:extLst>
          </p:cNvPr>
          <p:cNvSpPr txBox="1"/>
          <p:nvPr/>
        </p:nvSpPr>
        <p:spPr>
          <a:xfrm>
            <a:off x="2072736" y="957958"/>
            <a:ext cx="729544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OBJETIVOS DEL PROYECTO </a:t>
            </a:r>
            <a:endParaRPr lang="en-US" sz="24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fondo_naranja_soft.png">
            <a:extLst>
              <a:ext uri="{FF2B5EF4-FFF2-40B4-BE49-F238E27FC236}">
                <a16:creationId xmlns="" xmlns:a16="http://schemas.microsoft.com/office/drawing/2014/main" id="{3D358B3A-85C9-51BE-3BFE-0AD75833F1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93" r="12992" b="-1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71B0F92-EEED-DB7F-C1C3-D07C4DC7750C}"/>
              </a:ext>
            </a:extLst>
          </p:cNvPr>
          <p:cNvSpPr txBox="1"/>
          <p:nvPr/>
        </p:nvSpPr>
        <p:spPr>
          <a:xfrm>
            <a:off x="647940" y="909224"/>
            <a:ext cx="7467600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MODELOS UTILIZADOS 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b="1">
                <a:ea typeface="Calibri"/>
                <a:cs typeface="Calibri"/>
              </a:rPr>
              <a:t>1- REGRESION LOGISTICA </a:t>
            </a:r>
          </a:p>
          <a:p>
            <a:r>
              <a:rPr lang="en-US" b="1">
                <a:ea typeface="Calibri"/>
                <a:cs typeface="Calibri"/>
              </a:rPr>
              <a:t>2- ARBOL DE DECISION</a:t>
            </a:r>
            <a:r>
              <a:rPr lang="en-US">
                <a:ea typeface="Calibri"/>
                <a:cs typeface="Calibri"/>
              </a:rPr>
              <a:t>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93D7E3F-59FB-9BDB-F112-284D5B5AE126}"/>
              </a:ext>
            </a:extLst>
          </p:cNvPr>
          <p:cNvSpPr txBox="1"/>
          <p:nvPr/>
        </p:nvSpPr>
        <p:spPr>
          <a:xfrm>
            <a:off x="599439" y="3119120"/>
            <a:ext cx="67259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Ambos </a:t>
            </a:r>
            <a:r>
              <a:rPr lang="en-US" b="1" dirty="0" err="1">
                <a:ea typeface="Calibri"/>
                <a:cs typeface="Calibri"/>
              </a:rPr>
              <a:t>modelos</a:t>
            </a:r>
            <a:r>
              <a:rPr lang="en-US" b="1" dirty="0">
                <a:ea typeface="Calibri"/>
                <a:cs typeface="Calibri"/>
              </a:rPr>
              <a:t> </a:t>
            </a:r>
            <a:r>
              <a:rPr lang="en-US" b="1" dirty="0" err="1">
                <a:ea typeface="Calibri"/>
                <a:cs typeface="Calibri"/>
              </a:rPr>
              <a:t>fueron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entrenados</a:t>
            </a:r>
            <a:r>
              <a:rPr lang="en-US" b="1" dirty="0">
                <a:ea typeface="Calibri"/>
                <a:cs typeface="Calibri"/>
              </a:rPr>
              <a:t> para resolver </a:t>
            </a:r>
            <a:r>
              <a:rPr lang="en-US" b="1" dirty="0" err="1">
                <a:ea typeface="Calibri"/>
                <a:cs typeface="Calibri"/>
              </a:rPr>
              <a:t>el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problema</a:t>
            </a:r>
            <a:r>
              <a:rPr lang="en-US" b="1" dirty="0">
                <a:ea typeface="Calibri"/>
                <a:cs typeface="Calibri"/>
              </a:rPr>
              <a:t> de </a:t>
            </a:r>
            <a:r>
              <a:rPr lang="en-US" b="1" dirty="0" err="1">
                <a:ea typeface="Calibri"/>
                <a:cs typeface="Calibri"/>
              </a:rPr>
              <a:t>clasificacion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dirty="0" err="1">
                <a:ea typeface="Calibri"/>
                <a:cs typeface="Calibri"/>
              </a:rPr>
              <a:t>binaria</a:t>
            </a:r>
            <a:r>
              <a:rPr lang="en-US" b="1" dirty="0">
                <a:ea typeface="Calibri"/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86028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_naranja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97280"/>
            <a:ext cx="8273868" cy="213904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900"/>
            </a:pPr>
            <a:r>
              <a:rPr dirty="0"/>
              <a:t>•</a:t>
            </a:r>
            <a:r>
              <a:rPr b="1" dirty="0"/>
              <a:t> Modelo </a:t>
            </a:r>
            <a:r>
              <a:rPr b="1" dirty="0" err="1"/>
              <a:t>probabilístico</a:t>
            </a:r>
            <a:r>
              <a:rPr b="1" dirty="0"/>
              <a:t>.</a:t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• </a:t>
            </a:r>
            <a:r>
              <a:rPr b="1" dirty="0" err="1"/>
              <a:t>Problema</a:t>
            </a:r>
            <a:r>
              <a:rPr b="1" dirty="0"/>
              <a:t> de </a:t>
            </a:r>
            <a:r>
              <a:rPr b="1" dirty="0" err="1"/>
              <a:t>convergencia</a:t>
            </a:r>
            <a:r>
              <a:rPr b="1" dirty="0"/>
              <a:t> </a:t>
            </a:r>
            <a:r>
              <a:rPr b="1" dirty="0" err="1"/>
              <a:t>solucionado</a:t>
            </a:r>
            <a:r>
              <a:rPr b="1" dirty="0"/>
              <a:t> </a:t>
            </a:r>
            <a:r>
              <a:rPr b="1" dirty="0" err="1"/>
              <a:t>aumentando</a:t>
            </a:r>
            <a:r>
              <a:rPr b="1" dirty="0"/>
              <a:t> </a:t>
            </a:r>
            <a:r>
              <a:rPr b="1" dirty="0" err="1"/>
              <a:t>max_iter</a:t>
            </a:r>
            <a:r>
              <a:rPr b="1" dirty="0"/>
              <a:t> de 1000 a 5000.</a:t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• Accuracy: 88.69%</a:t>
            </a:r>
            <a:br>
              <a:rPr b="1" dirty="0"/>
            </a:br>
            <a:r>
              <a:rPr b="1" dirty="0"/>
              <a:t>• Recall </a:t>
            </a:r>
            <a:r>
              <a:rPr b="1" dirty="0" err="1"/>
              <a:t>clase</a:t>
            </a:r>
            <a:r>
              <a:rPr b="1" dirty="0"/>
              <a:t> </a:t>
            </a:r>
            <a:r>
              <a:rPr b="1" dirty="0" err="1"/>
              <a:t>alta</a:t>
            </a:r>
            <a:r>
              <a:rPr b="1" dirty="0"/>
              <a:t>: 89.88%</a:t>
            </a:r>
            <a:br>
              <a:rPr b="1" dirty="0"/>
            </a:br>
            <a:r>
              <a:rPr b="1" dirty="0"/>
              <a:t>• Precision </a:t>
            </a:r>
            <a:r>
              <a:rPr b="1" dirty="0" err="1"/>
              <a:t>clase</a:t>
            </a:r>
            <a:r>
              <a:rPr b="1" dirty="0"/>
              <a:t> </a:t>
            </a:r>
            <a:r>
              <a:rPr b="1" dirty="0" err="1"/>
              <a:t>alta</a:t>
            </a:r>
            <a:r>
              <a:rPr b="1" dirty="0"/>
              <a:t>: 88.88%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5" name="Picture 4" descr="WhatsApp Image 2026-05-12 at 20.00.3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25" y="3934796"/>
            <a:ext cx="7313474" cy="1823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832900B-EFE9-FCD8-7BC3-D1660906281C}"/>
              </a:ext>
            </a:extLst>
          </p:cNvPr>
          <p:cNvSpPr txBox="1"/>
          <p:nvPr/>
        </p:nvSpPr>
        <p:spPr>
          <a:xfrm>
            <a:off x="731520" y="599440"/>
            <a:ext cx="73487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PRIMER MODELO : REGRESION LOGISTICA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_naranja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4829" y="1715506"/>
            <a:ext cx="4450962" cy="27238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900"/>
            </a:pPr>
            <a:r>
              <a:rPr b="1" dirty="0"/>
              <a:t>Las variables </a:t>
            </a:r>
            <a:r>
              <a:rPr b="1" dirty="0" err="1"/>
              <a:t>más</a:t>
            </a:r>
            <a:r>
              <a:rPr b="1" dirty="0"/>
              <a:t> </a:t>
            </a:r>
            <a:r>
              <a:rPr b="1" dirty="0" err="1"/>
              <a:t>importantes</a:t>
            </a:r>
            <a:r>
              <a:rPr b="1" dirty="0"/>
              <a:t> </a:t>
            </a:r>
            <a:r>
              <a:rPr b="1" dirty="0" err="1"/>
              <a:t>fueron</a:t>
            </a:r>
            <a:r>
              <a:rPr b="1" dirty="0"/>
              <a:t>:</a:t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• Grupo </a:t>
            </a:r>
            <a:r>
              <a:rPr b="1" dirty="0" err="1"/>
              <a:t>etario</a:t>
            </a:r>
            <a:r>
              <a:rPr b="1" dirty="0"/>
              <a:t/>
            </a:r>
            <a:br>
              <a:rPr b="1" dirty="0"/>
            </a:br>
            <a:r>
              <a:rPr b="1" dirty="0"/>
              <a:t>• Año</a:t>
            </a:r>
            <a:br>
              <a:rPr b="1" dirty="0"/>
            </a:br>
            <a:r>
              <a:rPr b="1" dirty="0"/>
              <a:t>• </a:t>
            </a:r>
            <a:r>
              <a:rPr b="1" dirty="0" err="1"/>
              <a:t>Ansiedad</a:t>
            </a:r>
            <a:r>
              <a:rPr b="1" dirty="0"/>
              <a:t/>
            </a:r>
            <a:br>
              <a:rPr b="1" dirty="0"/>
            </a:br>
            <a:r>
              <a:rPr b="1" dirty="0"/>
              <a:t>• </a:t>
            </a:r>
            <a:r>
              <a:rPr b="1" dirty="0" err="1"/>
              <a:t>Consumo</a:t>
            </a:r>
            <a:r>
              <a:rPr b="1" dirty="0"/>
              <a:t> de alcohol y tabaco</a:t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Esto indica </a:t>
            </a:r>
            <a:r>
              <a:rPr b="1" dirty="0" err="1"/>
              <a:t>relación</a:t>
            </a:r>
            <a:r>
              <a:rPr b="1" dirty="0"/>
              <a:t> entre </a:t>
            </a:r>
            <a:r>
              <a:rPr b="1" dirty="0" err="1"/>
              <a:t>factores</a:t>
            </a:r>
            <a:r>
              <a:rPr b="1" dirty="0"/>
              <a:t> </a:t>
            </a:r>
            <a:r>
              <a:rPr b="1" dirty="0" err="1"/>
              <a:t>sociales</a:t>
            </a:r>
            <a:r>
              <a:rPr b="1" dirty="0"/>
              <a:t/>
            </a:r>
            <a:br>
              <a:rPr b="1" dirty="0"/>
            </a:br>
            <a:r>
              <a:rPr b="1" dirty="0"/>
              <a:t>y </a:t>
            </a:r>
            <a:r>
              <a:rPr b="1" dirty="0" err="1"/>
              <a:t>el</a:t>
            </a:r>
            <a:r>
              <a:rPr b="1" dirty="0"/>
              <a:t> </a:t>
            </a:r>
            <a:r>
              <a:rPr b="1" dirty="0" err="1"/>
              <a:t>consumo</a:t>
            </a:r>
            <a:r>
              <a:rPr b="1" dirty="0"/>
              <a:t> de </a:t>
            </a:r>
            <a:r>
              <a:rPr b="1" dirty="0" err="1"/>
              <a:t>psicofármacos</a:t>
            </a:r>
            <a:r>
              <a:rPr b="1" dirty="0"/>
              <a:t>.</a:t>
            </a:r>
            <a:endParaRPr lang="en-US" b="1" dirty="0">
              <a:ea typeface="Calibri"/>
              <a:cs typeface="Calibri"/>
            </a:endParaRPr>
          </a:p>
        </p:txBody>
      </p:sp>
      <p:pic>
        <p:nvPicPr>
          <p:cNvPr id="5" name="Picture 4" descr="coef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617" y="1413584"/>
            <a:ext cx="4300554" cy="3754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88545FE-4F2E-0377-4FBE-6F6DDDCD157A}"/>
              </a:ext>
            </a:extLst>
          </p:cNvPr>
          <p:cNvSpPr txBox="1"/>
          <p:nvPr/>
        </p:nvSpPr>
        <p:spPr>
          <a:xfrm>
            <a:off x="1873849" y="719635"/>
            <a:ext cx="67360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IMPORTANCIA DE VARIABLES</a:t>
            </a:r>
            <a:r>
              <a:rPr lang="en-US">
                <a:ea typeface="Calibri"/>
                <a:cs typeface="Calibri"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_naranja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4829" y="2103695"/>
            <a:ext cx="3913123" cy="243143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900"/>
            </a:pPr>
            <a:r>
              <a:rPr b="1" dirty="0"/>
              <a:t>• 69 </a:t>
            </a:r>
            <a:r>
              <a:rPr b="1" dirty="0" err="1"/>
              <a:t>verdaderos</a:t>
            </a:r>
            <a:r>
              <a:rPr b="1" dirty="0"/>
              <a:t> </a:t>
            </a:r>
            <a:r>
              <a:rPr b="1" dirty="0" err="1"/>
              <a:t>negativos</a:t>
            </a:r>
            <a:r>
              <a:rPr b="1" dirty="0"/>
              <a:t/>
            </a:r>
            <a:br>
              <a:rPr b="1" dirty="0"/>
            </a:br>
            <a:r>
              <a:rPr b="1" dirty="0"/>
              <a:t>• 80 </a:t>
            </a:r>
            <a:r>
              <a:rPr b="1" dirty="0" err="1"/>
              <a:t>verdaderos</a:t>
            </a:r>
            <a:r>
              <a:rPr b="1" dirty="0"/>
              <a:t> </a:t>
            </a:r>
            <a:r>
              <a:rPr b="1" dirty="0" err="1"/>
              <a:t>positivos</a:t>
            </a:r>
            <a:r>
              <a:rPr b="1" dirty="0"/>
              <a:t/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• Solo 10 </a:t>
            </a:r>
            <a:r>
              <a:rPr b="1" dirty="0" err="1"/>
              <a:t>falsos</a:t>
            </a:r>
            <a:r>
              <a:rPr b="1" dirty="0"/>
              <a:t> </a:t>
            </a:r>
            <a:r>
              <a:rPr b="1" dirty="0" err="1"/>
              <a:t>positivos</a:t>
            </a:r>
            <a:r>
              <a:rPr b="1" dirty="0"/>
              <a:t/>
            </a:r>
            <a:br>
              <a:rPr b="1" dirty="0"/>
            </a:br>
            <a:r>
              <a:rPr b="1" dirty="0"/>
              <a:t>• Solo 9 </a:t>
            </a:r>
            <a:r>
              <a:rPr b="1" dirty="0" err="1"/>
              <a:t>falsos</a:t>
            </a:r>
            <a:r>
              <a:rPr b="1" dirty="0"/>
              <a:t> </a:t>
            </a:r>
            <a:r>
              <a:rPr b="1" dirty="0" err="1"/>
              <a:t>negativos</a:t>
            </a:r>
            <a:r>
              <a:rPr b="1" dirty="0"/>
              <a:t/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La </a:t>
            </a:r>
            <a:r>
              <a:rPr b="1" dirty="0" err="1"/>
              <a:t>mayoría</a:t>
            </a:r>
            <a:r>
              <a:rPr b="1" dirty="0"/>
              <a:t> de </a:t>
            </a:r>
            <a:r>
              <a:rPr b="1" dirty="0" err="1"/>
              <a:t>predicciones</a:t>
            </a:r>
            <a:r>
              <a:rPr b="1" dirty="0"/>
              <a:t> </a:t>
            </a:r>
            <a:r>
              <a:rPr b="1" dirty="0" err="1"/>
              <a:t>correctas</a:t>
            </a:r>
            <a:r>
              <a:rPr b="1" dirty="0"/>
              <a:t/>
            </a:r>
            <a:br>
              <a:rPr b="1" dirty="0"/>
            </a:br>
            <a:r>
              <a:rPr b="1" dirty="0" err="1"/>
              <a:t>están</a:t>
            </a:r>
            <a:r>
              <a:rPr b="1" dirty="0"/>
              <a:t> </a:t>
            </a:r>
            <a:r>
              <a:rPr b="1" dirty="0" err="1"/>
              <a:t>sobre</a:t>
            </a:r>
            <a:r>
              <a:rPr b="1" dirty="0"/>
              <a:t> la diagonal.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D9C51EF-2794-BD3C-2154-6985F1029C06}"/>
              </a:ext>
            </a:extLst>
          </p:cNvPr>
          <p:cNvSpPr txBox="1"/>
          <p:nvPr/>
        </p:nvSpPr>
        <p:spPr>
          <a:xfrm>
            <a:off x="955040" y="589280"/>
            <a:ext cx="69697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MATRIZ DE CONFUSION- REGRESION LOGISTICA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952" y="1699846"/>
            <a:ext cx="4733926" cy="4384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_naranja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00" y="1284186"/>
            <a:ext cx="7793374" cy="21390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900"/>
            </a:pPr>
            <a:r>
              <a:rPr dirty="0"/>
              <a:t>• </a:t>
            </a:r>
            <a:r>
              <a:rPr b="1" dirty="0"/>
              <a:t>Modelo </a:t>
            </a:r>
            <a:r>
              <a:rPr b="1" dirty="0" err="1"/>
              <a:t>basado</a:t>
            </a:r>
            <a:r>
              <a:rPr b="1" dirty="0"/>
              <a:t> </a:t>
            </a:r>
            <a:r>
              <a:rPr b="1" dirty="0" err="1"/>
              <a:t>en</a:t>
            </a:r>
            <a:r>
              <a:rPr b="1" dirty="0"/>
              <a:t> </a:t>
            </a:r>
            <a:r>
              <a:rPr b="1" dirty="0" err="1"/>
              <a:t>reglas</a:t>
            </a:r>
            <a:r>
              <a:rPr b="1" dirty="0"/>
              <a:t> y </a:t>
            </a:r>
            <a:r>
              <a:rPr b="1" dirty="0" err="1"/>
              <a:t>divisiones</a:t>
            </a:r>
            <a:r>
              <a:rPr b="1" dirty="0"/>
              <a:t>.</a:t>
            </a:r>
            <a:br>
              <a:rPr b="1" dirty="0"/>
            </a:br>
            <a:r>
              <a:rPr b="1" dirty="0"/>
              <a:t>• Usa variables </a:t>
            </a:r>
            <a:r>
              <a:rPr b="1" dirty="0" err="1"/>
              <a:t>como</a:t>
            </a:r>
            <a:r>
              <a:rPr b="1" dirty="0"/>
              <a:t> </a:t>
            </a:r>
            <a:r>
              <a:rPr b="1" dirty="0" err="1"/>
              <a:t>ansiedad</a:t>
            </a:r>
            <a:r>
              <a:rPr b="1" dirty="0"/>
              <a:t>,</a:t>
            </a:r>
            <a:br>
              <a:rPr b="1" dirty="0"/>
            </a:br>
            <a:r>
              <a:rPr b="1" dirty="0" err="1"/>
              <a:t>edad</a:t>
            </a:r>
            <a:r>
              <a:rPr b="1" dirty="0"/>
              <a:t> y alcohol.</a:t>
            </a:r>
            <a:br>
              <a:rPr b="1" dirty="0"/>
            </a:br>
            <a:r>
              <a:rPr b="1" dirty="0"/>
              <a:t>• Accuracy: 82.14%</a:t>
            </a:r>
            <a:br>
              <a:rPr b="1" dirty="0"/>
            </a:br>
            <a:r>
              <a:rPr b="1" dirty="0"/>
              <a:t>• Recall </a:t>
            </a:r>
            <a:r>
              <a:rPr b="1" dirty="0" err="1"/>
              <a:t>clase</a:t>
            </a:r>
            <a:r>
              <a:rPr b="1" dirty="0"/>
              <a:t> </a:t>
            </a:r>
            <a:r>
              <a:rPr b="1" dirty="0" err="1"/>
              <a:t>alta</a:t>
            </a:r>
            <a:r>
              <a:rPr b="1" dirty="0"/>
              <a:t>: 78.65%</a:t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Más </a:t>
            </a:r>
            <a:r>
              <a:rPr b="1" dirty="0" err="1"/>
              <a:t>errores</a:t>
            </a:r>
            <a:r>
              <a:rPr b="1" dirty="0"/>
              <a:t> </a:t>
            </a:r>
            <a:r>
              <a:rPr b="1" dirty="0" err="1"/>
              <a:t>que</a:t>
            </a:r>
            <a:r>
              <a:rPr b="1" dirty="0"/>
              <a:t> la </a:t>
            </a:r>
            <a:r>
              <a:rPr b="1" dirty="0" err="1"/>
              <a:t>Regresión</a:t>
            </a:r>
            <a:r>
              <a:rPr b="1" dirty="0"/>
              <a:t> </a:t>
            </a:r>
            <a:r>
              <a:rPr b="1" dirty="0" err="1"/>
              <a:t>Logística</a:t>
            </a:r>
            <a:r>
              <a:rPr b="1" dirty="0"/>
              <a:t>.</a:t>
            </a:r>
            <a:endParaRPr lang="en-US" b="1" dirty="0">
              <a:ea typeface="Calibri"/>
              <a:cs typeface="Calibri"/>
            </a:endParaRPr>
          </a:p>
        </p:txBody>
      </p:sp>
      <p:pic>
        <p:nvPicPr>
          <p:cNvPr id="5" name="Picture 4" descr="WhatsApp Image 2026-05-12 at 20.01.5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614" y="3532230"/>
            <a:ext cx="6925284" cy="239361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949569" y="738553"/>
            <a:ext cx="6201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smtClean="0"/>
              <a:t>METRICAS</a:t>
            </a:r>
            <a:r>
              <a:rPr lang="es-ES" b="1" dirty="0" smtClean="0"/>
              <a:t> </a:t>
            </a:r>
            <a:r>
              <a:rPr lang="es-ES" sz="2400" b="1" dirty="0" smtClean="0"/>
              <a:t>ARBOL DE DECISION </a:t>
            </a:r>
            <a:endParaRPr lang="es-AR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fondo_naranja_soft.png">
            <a:extLst>
              <a:ext uri="{FF2B5EF4-FFF2-40B4-BE49-F238E27FC236}">
                <a16:creationId xmlns="" xmlns:a16="http://schemas.microsoft.com/office/drawing/2014/main" id="{6D3BC3A9-DF04-9223-C44D-4863446E6B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93" r="12992" b="-1"/>
          <a:stretch>
            <a:fillRect/>
          </a:stretch>
        </p:blipFill>
        <p:spPr>
          <a:xfrm>
            <a:off x="-1123" y="83344"/>
            <a:ext cx="9143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5DC7CA6-AFE0-F6F0-EA81-272D77EE9394}"/>
              </a:ext>
            </a:extLst>
          </p:cNvPr>
          <p:cNvSpPr txBox="1"/>
          <p:nvPr/>
        </p:nvSpPr>
        <p:spPr>
          <a:xfrm>
            <a:off x="944880" y="995680"/>
            <a:ext cx="6807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-Genera </a:t>
            </a:r>
            <a:r>
              <a:rPr lang="en-US" b="1" dirty="0" err="1"/>
              <a:t>reglas</a:t>
            </a:r>
            <a:r>
              <a:rPr lang="en-US" b="1" dirty="0"/>
              <a:t> y </a:t>
            </a:r>
            <a:r>
              <a:rPr lang="en-US" b="1" dirty="0" err="1"/>
              <a:t>divisiones</a:t>
            </a:r>
            <a:r>
              <a:rPr lang="en-US" b="1" dirty="0"/>
              <a:t>.</a:t>
            </a:r>
            <a:endParaRPr lang="en-US" b="1" dirty="0">
              <a:ea typeface="Calibri"/>
              <a:cs typeface="Calibri"/>
            </a:endParaRPr>
          </a:p>
          <a:p>
            <a:r>
              <a:rPr lang="en-US" b="1" dirty="0"/>
              <a:t>- Usa variables </a:t>
            </a:r>
            <a:r>
              <a:rPr lang="en-US" b="1" dirty="0" err="1"/>
              <a:t>como</a:t>
            </a:r>
            <a:r>
              <a:rPr lang="en-US" b="1" dirty="0"/>
              <a:t> </a:t>
            </a:r>
            <a:r>
              <a:rPr lang="en-US" b="1" dirty="0" err="1"/>
              <a:t>ansiedad</a:t>
            </a:r>
            <a:r>
              <a:rPr lang="en-US" b="1" dirty="0"/>
              <a:t> y alcohol.</a:t>
            </a:r>
            <a:endParaRPr lang="en-US" b="1">
              <a:ea typeface="Calibri"/>
              <a:cs typeface="Calibri"/>
            </a:endParaRPr>
          </a:p>
          <a:p>
            <a:r>
              <a:rPr lang="en-US" b="1"/>
              <a:t>- Accuracy ≈ 82%.-</a:t>
            </a:r>
            <a:endParaRPr lang="en-US" b="1" dirty="0">
              <a:ea typeface="Calibri"/>
              <a:cs typeface="Calibri"/>
            </a:endParaRPr>
          </a:p>
          <a:p>
            <a:r>
              <a:rPr lang="en-US" b="1" dirty="0"/>
              <a:t> Más </a:t>
            </a:r>
            <a:r>
              <a:rPr lang="en-US" b="1" dirty="0" err="1"/>
              <a:t>errores</a:t>
            </a:r>
            <a:r>
              <a:rPr lang="en-US" b="1" dirty="0"/>
              <a:t> </a:t>
            </a:r>
            <a:r>
              <a:rPr lang="en-US" b="1" dirty="0" err="1"/>
              <a:t>que</a:t>
            </a:r>
            <a:r>
              <a:rPr lang="en-US" b="1" dirty="0"/>
              <a:t> la </a:t>
            </a:r>
            <a:r>
              <a:rPr lang="en-US" b="1" dirty="0" err="1"/>
              <a:t>regresión</a:t>
            </a:r>
            <a:r>
              <a:rPr lang="en-US" b="1" dirty="0"/>
              <a:t> </a:t>
            </a:r>
            <a:r>
              <a:rPr lang="en-US" b="1" dirty="0" err="1"/>
              <a:t>logística</a:t>
            </a:r>
            <a:r>
              <a:rPr lang="en-US" b="1" dirty="0"/>
              <a:t>.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6" name="Picture 5" descr="A diagram of a algorithm">
            <a:extLst>
              <a:ext uri="{FF2B5EF4-FFF2-40B4-BE49-F238E27FC236}">
                <a16:creationId xmlns="" xmlns:a16="http://schemas.microsoft.com/office/drawing/2014/main" id="{0FF7BA83-BCA2-67B4-EAE6-DBDBF30C8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67" y="2197579"/>
            <a:ext cx="8293038" cy="4116237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="" xmlns:a16="http://schemas.microsoft.com/office/drawing/2014/main" id="{F728604E-1411-8C53-2EAD-F38465A310DA}"/>
              </a:ext>
            </a:extLst>
          </p:cNvPr>
          <p:cNvSpPr txBox="1"/>
          <p:nvPr/>
        </p:nvSpPr>
        <p:spPr>
          <a:xfrm>
            <a:off x="1124118" y="571259"/>
            <a:ext cx="68884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Calibri"/>
                <a:cs typeface="Calibri"/>
              </a:rPr>
              <a:t>SEGUNDO MODELO : ARBOL DE DECISION </a:t>
            </a:r>
          </a:p>
        </p:txBody>
      </p:sp>
    </p:spTree>
    <p:extLst>
      <p:ext uri="{BB962C8B-B14F-4D97-AF65-F5344CB8AC3E}">
        <p14:creationId xmlns:p14="http://schemas.microsoft.com/office/powerpoint/2010/main" val="1226172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_naranja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074" y="1571733"/>
            <a:ext cx="3410101" cy="213904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900"/>
            </a:pPr>
            <a:r>
              <a:rPr dirty="0"/>
              <a:t>•</a:t>
            </a:r>
            <a:r>
              <a:rPr b="1" dirty="0"/>
              <a:t> 68 </a:t>
            </a:r>
            <a:r>
              <a:rPr b="1" dirty="0" err="1"/>
              <a:t>verdaderos</a:t>
            </a:r>
            <a:r>
              <a:rPr b="1" dirty="0"/>
              <a:t> </a:t>
            </a:r>
            <a:r>
              <a:rPr b="1" dirty="0" err="1"/>
              <a:t>negativos</a:t>
            </a:r>
            <a:r>
              <a:rPr b="1" dirty="0"/>
              <a:t/>
            </a:r>
            <a:br>
              <a:rPr b="1" dirty="0"/>
            </a:br>
            <a:r>
              <a:rPr b="1" dirty="0"/>
              <a:t>• 70 </a:t>
            </a:r>
            <a:r>
              <a:rPr b="1" dirty="0" err="1"/>
              <a:t>verdaderos</a:t>
            </a:r>
            <a:r>
              <a:rPr b="1" dirty="0"/>
              <a:t> </a:t>
            </a:r>
            <a:r>
              <a:rPr b="1" dirty="0" err="1"/>
              <a:t>positivos</a:t>
            </a:r>
            <a:r>
              <a:rPr b="1" dirty="0"/>
              <a:t/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• 19 </a:t>
            </a:r>
            <a:r>
              <a:rPr b="1" dirty="0" err="1"/>
              <a:t>falsos</a:t>
            </a:r>
            <a:r>
              <a:rPr b="1" dirty="0"/>
              <a:t> </a:t>
            </a:r>
            <a:r>
              <a:rPr b="1" dirty="0" err="1"/>
              <a:t>negativos</a:t>
            </a:r>
            <a:r>
              <a:rPr b="1" dirty="0"/>
              <a:t/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El </a:t>
            </a:r>
            <a:r>
              <a:rPr b="1" dirty="0" err="1"/>
              <a:t>modelo</a:t>
            </a:r>
            <a:r>
              <a:rPr b="1" dirty="0"/>
              <a:t> </a:t>
            </a:r>
            <a:r>
              <a:rPr b="1" dirty="0" err="1"/>
              <a:t>tuvo</a:t>
            </a:r>
            <a:r>
              <a:rPr b="1" dirty="0"/>
              <a:t> </a:t>
            </a:r>
            <a:r>
              <a:rPr b="1" dirty="0" err="1"/>
              <a:t>más</a:t>
            </a:r>
            <a:r>
              <a:rPr b="1" dirty="0"/>
              <a:t> </a:t>
            </a:r>
            <a:r>
              <a:rPr b="1" dirty="0" err="1"/>
              <a:t>dificultades</a:t>
            </a:r>
            <a:r>
              <a:rPr b="1" dirty="0"/>
              <a:t/>
            </a:r>
            <a:br>
              <a:rPr b="1" dirty="0"/>
            </a:br>
            <a:r>
              <a:rPr b="1" dirty="0"/>
              <a:t>para </a:t>
            </a:r>
            <a:r>
              <a:rPr b="1" dirty="0" err="1"/>
              <a:t>detectar</a:t>
            </a:r>
            <a:r>
              <a:rPr b="1" dirty="0"/>
              <a:t> </a:t>
            </a:r>
            <a:r>
              <a:rPr b="1" dirty="0" err="1"/>
              <a:t>consumo</a:t>
            </a:r>
            <a:r>
              <a:rPr b="1" dirty="0"/>
              <a:t> alto.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ABD9130-9646-98C5-4A10-CAF28EA78CFA}"/>
              </a:ext>
            </a:extLst>
          </p:cNvPr>
          <p:cNvSpPr txBox="1"/>
          <p:nvPr/>
        </p:nvSpPr>
        <p:spPr>
          <a:xfrm>
            <a:off x="820468" y="534070"/>
            <a:ext cx="74879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MATRIZ DE CONFUSION – ARBOL DE DECISION </a:t>
            </a:r>
            <a:endParaRPr lang="en-US" sz="2400">
              <a:ea typeface="Calibri"/>
              <a:cs typeface="Calibri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175" y="1571733"/>
            <a:ext cx="5207360" cy="4517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o_naranja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99846"/>
            <a:ext cx="3840218" cy="272382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900"/>
            </a:pPr>
            <a:r>
              <a:rPr b="1" dirty="0"/>
              <a:t>La </a:t>
            </a:r>
            <a:r>
              <a:rPr b="1" dirty="0" err="1"/>
              <a:t>Regresión</a:t>
            </a:r>
            <a:r>
              <a:rPr b="1" dirty="0"/>
              <a:t> </a:t>
            </a:r>
            <a:r>
              <a:rPr b="1" dirty="0" err="1"/>
              <a:t>Logística</a:t>
            </a:r>
            <a:r>
              <a:rPr b="1" dirty="0"/>
              <a:t> </a:t>
            </a:r>
            <a:r>
              <a:rPr b="1" dirty="0" err="1"/>
              <a:t>fue</a:t>
            </a:r>
            <a:r>
              <a:rPr b="1" dirty="0"/>
              <a:t> </a:t>
            </a:r>
            <a:r>
              <a:rPr b="1" dirty="0" err="1"/>
              <a:t>el</a:t>
            </a:r>
            <a:r>
              <a:rPr b="1" dirty="0"/>
              <a:t> </a:t>
            </a:r>
            <a:r>
              <a:rPr b="1" dirty="0" err="1"/>
              <a:t>modelo</a:t>
            </a:r>
            <a:r>
              <a:rPr b="1" dirty="0"/>
              <a:t/>
            </a:r>
            <a:br>
              <a:rPr b="1" dirty="0"/>
            </a:br>
            <a:r>
              <a:rPr b="1" dirty="0" err="1"/>
              <a:t>que</a:t>
            </a:r>
            <a:r>
              <a:rPr b="1" dirty="0"/>
              <a:t> </a:t>
            </a:r>
            <a:r>
              <a:rPr b="1" dirty="0" err="1"/>
              <a:t>mejor</a:t>
            </a:r>
            <a:r>
              <a:rPr b="1" dirty="0"/>
              <a:t> </a:t>
            </a:r>
            <a:r>
              <a:rPr b="1" dirty="0" err="1"/>
              <a:t>resolvió</a:t>
            </a:r>
            <a:r>
              <a:rPr b="1" dirty="0"/>
              <a:t> </a:t>
            </a:r>
            <a:r>
              <a:rPr b="1" dirty="0" err="1"/>
              <a:t>el</a:t>
            </a:r>
            <a:r>
              <a:rPr b="1" dirty="0"/>
              <a:t> </a:t>
            </a:r>
            <a:r>
              <a:rPr b="1" dirty="0" err="1"/>
              <a:t>problema</a:t>
            </a:r>
            <a:r>
              <a:rPr b="1" dirty="0"/>
              <a:t>.</a:t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• Mayor accuracy</a:t>
            </a:r>
            <a:br>
              <a:rPr b="1" dirty="0"/>
            </a:br>
            <a:r>
              <a:rPr b="1" dirty="0"/>
              <a:t>• Mejor recall</a:t>
            </a:r>
            <a:br>
              <a:rPr b="1" dirty="0"/>
            </a:br>
            <a:r>
              <a:rPr b="1" dirty="0"/>
              <a:t>• Menos </a:t>
            </a:r>
            <a:r>
              <a:rPr b="1" dirty="0" err="1"/>
              <a:t>errores</a:t>
            </a:r>
            <a:r>
              <a:rPr b="1" dirty="0"/>
              <a:t> de </a:t>
            </a:r>
            <a:r>
              <a:rPr b="1" dirty="0" err="1"/>
              <a:t>clasificación</a:t>
            </a:r>
            <a:r>
              <a:rPr b="1" dirty="0"/>
              <a:t/>
            </a:r>
            <a:br>
              <a:rPr b="1" dirty="0"/>
            </a:br>
            <a:r>
              <a:rPr b="1" dirty="0"/>
              <a:t/>
            </a:r>
            <a:br>
              <a:rPr b="1" dirty="0"/>
            </a:br>
            <a:r>
              <a:rPr b="1" dirty="0"/>
              <a:t>El Árbol de </a:t>
            </a:r>
            <a:r>
              <a:rPr b="1" dirty="0" err="1"/>
              <a:t>Decisión</a:t>
            </a:r>
            <a:r>
              <a:rPr b="1" dirty="0"/>
              <a:t> </a:t>
            </a:r>
            <a:r>
              <a:rPr b="1" dirty="0" err="1"/>
              <a:t>fue</a:t>
            </a:r>
            <a:r>
              <a:rPr b="1" dirty="0"/>
              <a:t> </a:t>
            </a:r>
            <a:r>
              <a:rPr b="1" dirty="0" err="1"/>
              <a:t>más</a:t>
            </a:r>
            <a:r>
              <a:rPr b="1" dirty="0"/>
              <a:t> visual,</a:t>
            </a:r>
            <a:br>
              <a:rPr b="1" dirty="0"/>
            </a:br>
            <a:r>
              <a:rPr b="1" dirty="0" err="1"/>
              <a:t>pero</a:t>
            </a:r>
            <a:r>
              <a:rPr b="1" dirty="0"/>
              <a:t> </a:t>
            </a:r>
            <a:r>
              <a:rPr b="1" dirty="0" err="1"/>
              <a:t>menos</a:t>
            </a:r>
            <a:r>
              <a:rPr b="1" dirty="0"/>
              <a:t> </a:t>
            </a:r>
            <a:r>
              <a:rPr b="1" dirty="0" err="1"/>
              <a:t>preciso</a:t>
            </a:r>
            <a:r>
              <a:rPr b="1" dirty="0"/>
              <a:t>.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96F2226-799E-54AB-79C9-06DC0B41D7D5}"/>
              </a:ext>
            </a:extLst>
          </p:cNvPr>
          <p:cNvSpPr txBox="1"/>
          <p:nvPr/>
        </p:nvSpPr>
        <p:spPr>
          <a:xfrm>
            <a:off x="2971129" y="644105"/>
            <a:ext cx="257584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MEJOR MODELO </a:t>
            </a:r>
            <a:endParaRPr lang="en-US" sz="2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155</Words>
  <Application>Microsoft Office PowerPoint</Application>
  <PresentationFormat>Presentación en pantalla (4:3)</PresentationFormat>
  <Paragraphs>40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betty burgos</dc:creator>
  <dc:description>generated using python-pptx</dc:description>
  <cp:lastModifiedBy>betty burgos</cp:lastModifiedBy>
  <cp:revision>282</cp:revision>
  <dcterms:created xsi:type="dcterms:W3CDTF">2013-01-27T09:14:16Z</dcterms:created>
  <dcterms:modified xsi:type="dcterms:W3CDTF">2026-05-13T04:09:15Z</dcterms:modified>
</cp:coreProperties>
</file>